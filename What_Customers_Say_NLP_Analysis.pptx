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42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45720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0" b="1" dirty="0">
                <a:solidFill>
                  <a:srgbClr val="1A2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0"/>
            <a:ext cx="2926080" cy="2011680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926080" cy="1371600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2926080" cy="1760220"/>
          </a:xfrm>
          <a:prstGeom prst="rect">
            <a:avLst/>
          </a:prstGeom>
          <a:solidFill>
            <a:srgbClr val="243557"/>
          </a:solidFill>
          <a:ln w="12700">
            <a:solidFill>
              <a:srgbClr val="2435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2435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6,166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methods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502920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Customers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—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657600" y="224028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What It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Actually Means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3657600" y="3794760"/>
            <a:ext cx="1645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0" y="39319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6,166 restaurant reviews to discover what language,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and themes actually predict customer satisfaction.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477316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Majeed  ·  Purdue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13716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9659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restaurant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— and can we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it from customer reviews?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3383280"/>
            <a:ext cx="3383280" cy="475488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34564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4381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 Analysis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bigrams by rating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3931920"/>
            <a:ext cx="3383280" cy="475488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4005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9867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LASSO Regression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41788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as predictive input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4480560"/>
            <a:ext cx="3383280" cy="47548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45537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5354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 Modeling (LDA)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7274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hidden themes</a:t>
            </a:r>
            <a:endParaRPr lang="en-US" sz="8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20040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0" y="3200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4023360" y="914400"/>
            <a:ext cx="48463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023360" y="914400"/>
            <a:ext cx="54864" cy="9326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160520" y="1042416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6,166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669280" y="11430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reviews from we8there.com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023360" y="1920240"/>
            <a:ext cx="48463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023360" y="1920240"/>
            <a:ext cx="54864" cy="9326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160520" y="20482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2,640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669280" y="2148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bigrams (two-word phrases)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023360" y="2926080"/>
            <a:ext cx="48463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023360" y="2926080"/>
            <a:ext cx="54864" cy="9326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160520" y="30540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32" name="Text 29"/>
          <p:cNvSpPr/>
          <p:nvPr/>
        </p:nvSpPr>
        <p:spPr>
          <a:xfrm>
            <a:off x="5669280" y="31546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dimensions: Food, Service, Value, Atmosphere, Overall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023360" y="3931920"/>
            <a:ext cx="48463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023360" y="3931920"/>
            <a:ext cx="54864" cy="9326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160520" y="405993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1–5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5669280" y="4160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scale (0 also appears for missing values)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023360" y="4846320"/>
            <a:ext cx="4846320" cy="164592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114800" y="4864608"/>
            <a:ext cx="46634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we8there.com  ·  Reviews matched to 5-dimension rating scores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Descriptive Analysis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Are Restaurants Rated?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533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ratings across all 5 dimensions  ·  6,166 reviews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719072"/>
            <a:ext cx="8321040" cy="3063240"/>
          </a:xfrm>
          <a:prstGeom prst="rect">
            <a:avLst/>
          </a:prstGeom>
          <a:solidFill>
            <a:srgbClr val="0F1E36"/>
          </a:solidFill>
          <a:ln w="12700">
            <a:solidFill>
              <a:srgbClr val="243557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755648"/>
            <a:ext cx="8266176" cy="29718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" y="4800600"/>
            <a:ext cx="8321040" cy="201168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94360" y="4809744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56% of Food ratings are 5-star. When both Food AND Service = 5, Overall is also 5 in 95.9% of cases.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DESCRIPTIVE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the Overall Rating?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4206240" cy="3520440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61872"/>
            <a:ext cx="4151376" cy="3438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37760" y="1234440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937760" y="1234440"/>
            <a:ext cx="54864" cy="777240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74920" y="13075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0.90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92240" y="13258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→ Overall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7492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driver of the Overall score by far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937760" y="2103120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937760" y="2103120"/>
            <a:ext cx="54864" cy="777240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74920" y="21762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6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0.87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92240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→ Overall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074920" y="26060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strongest — service quality is critical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937760" y="2971800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937760" y="2971800"/>
            <a:ext cx="54864" cy="777240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074920" y="30449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B8F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0.86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492240" y="30632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→ Overall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074920" y="34747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perception matters nearly as much as service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937760" y="3840480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937760" y="3840480"/>
            <a:ext cx="54864" cy="7772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074920" y="39136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5E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0.77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492240" y="39319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Atmosphere → Overall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074920" y="43434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link — ambiance alone won't save a bad meal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937760" y="4754880"/>
            <a:ext cx="3886200" cy="201168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029200" y="4764024"/>
            <a:ext cx="3703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quality is the most critical investment a restaurant can make.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918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8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THE LANGUAGE OF REVIEWS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68580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1-Star vs. 5-Star: Two Completely Different Vocabularies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8321040" cy="3429000"/>
          </a:xfrm>
          <a:prstGeom prst="rect">
            <a:avLst/>
          </a:prstGeom>
          <a:solidFill>
            <a:srgbClr val="0F1E36"/>
          </a:solidFill>
          <a:ln w="12700">
            <a:solidFill>
              <a:srgbClr val="243557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353312"/>
            <a:ext cx="8266176" cy="33375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754880"/>
            <a:ext cx="3886200" cy="228600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21792" y="47640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failure language dominates 1-star reviews — not food quality alone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937760" y="4754880"/>
            <a:ext cx="3886200" cy="228600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10912" y="47640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reviews consistently use enthusiastic food + service language together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2918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LASSO TEXT REGRESSION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6858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a Machine to Read Reviews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2618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logistic regression: 2,640 bigrams as input → predict rating. The model selects only the most informative phrases.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719072"/>
            <a:ext cx="1097280" cy="6583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2,640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084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01168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971800" y="1719072"/>
            <a:ext cx="1097280" cy="658368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971800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LASSO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971800" y="2084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noise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48056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440680" y="1719072"/>
            <a:ext cx="1097280" cy="658368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40680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440680" y="2084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949440" y="1783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7909560" y="1719072"/>
            <a:ext cx="1097280" cy="658368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909560" y="17556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909560" y="2084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02920" y="2578608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02920" y="2578608"/>
            <a:ext cx="4206240" cy="54864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02920" y="2578608"/>
            <a:ext cx="54864" cy="1078992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0080" y="26883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Extreme ratings are most predictable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" y="3017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1-star and 5-star reviews have clear, consistent language patterns. The model identifies them most confidently.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02920" y="374904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02920" y="3749040"/>
            <a:ext cx="420624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02920" y="3749040"/>
            <a:ext cx="54864" cy="107899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40080" y="3858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Mid-range ratings are linguistically ambiguous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0080" y="41879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star reviews lack a consistent vocabulary. Customers who are 'fine' with a restaurant don't have a standard way to express it.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937760" y="2578608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937760" y="2578608"/>
            <a:ext cx="420624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937760" y="2578608"/>
            <a:ext cx="54864" cy="107899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74920" y="26883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failures dominate negative signal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074920" y="30175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like 'never return', 'very rude', 'service terrible' have the highest negative coefficients — stronger than food-quality complaints.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937760" y="374904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937760" y="3749040"/>
            <a:ext cx="4206240" cy="54864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937760" y="3749040"/>
            <a:ext cx="54864" cy="1078992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074920" y="3858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Enthusiasm drives positive signal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074920" y="418795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positive bigrams are enthusiastic superlatives: 'great food', 'highly recommend', 'food excellent'. Lukewarm praise has weak predictive power.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B7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LASSO 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Predictive Phrases — Positive vs. Negative Signal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321040" cy="3657600"/>
          </a:xfrm>
          <a:prstGeom prst="rect">
            <a:avLst/>
          </a:prstGeom>
          <a:solidFill>
            <a:srgbClr val="0F1E36"/>
          </a:solidFill>
          <a:ln w="12700">
            <a:solidFill>
              <a:srgbClr val="243557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16152"/>
            <a:ext cx="8266176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818888"/>
            <a:ext cx="8321040" cy="2011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4828032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Food AND Service both receive 5-star ratings, the Overall score follows suit in 95.9% of cases — near certainty.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1089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TOPIC MODELING (LDA)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6858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Discovering Hidden Themes in 6,166 Reviews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162763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1627632" cy="54864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3990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6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173736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 Time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Logistics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31520" y="2286000"/>
            <a:ext cx="1170432" cy="2011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1520" y="230428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48640" y="253288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minut · half hour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231136" y="1325880"/>
            <a:ext cx="162763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231136" y="1325880"/>
            <a:ext cx="1627632" cy="54864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231136" y="13990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8F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2231136" y="173736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459736" y="2286000"/>
            <a:ext cx="1170432" cy="201168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459736" y="230428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276856" y="253288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recommend · best food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959352" y="1325880"/>
            <a:ext cx="162763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959352" y="1325880"/>
            <a:ext cx="1627632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959352" y="13990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T3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3959352" y="173736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Items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187952" y="2286000"/>
            <a:ext cx="1170432" cy="2011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187952" y="230428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005072" y="253288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pork · cole slaw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687568" y="1325880"/>
            <a:ext cx="162763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687568" y="1325880"/>
            <a:ext cx="1627632" cy="54864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687568" y="13990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6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T4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5687568" y="173736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 Past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916168" y="2286000"/>
            <a:ext cx="1170432" cy="201168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916168" y="230428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733288" y="253288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ago · last time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7415784" y="1325880"/>
            <a:ext cx="162763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415784" y="1325880"/>
            <a:ext cx="1627632" cy="54864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415784" y="13990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8F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T5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7415784" y="173736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Friendly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644384" y="2286000"/>
            <a:ext cx="1170432" cy="201168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7644384" y="230428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461504" y="253288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friend · wait staff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502920" y="3108960"/>
            <a:ext cx="162763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502920" y="3108960"/>
            <a:ext cx="1627632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02920" y="318211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T6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502920" y="35204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Timing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31520" y="4069080"/>
            <a:ext cx="1170432" cy="2011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31520" y="408736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48640" y="431596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cream · main cours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2231136" y="3108960"/>
            <a:ext cx="162763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2231136" y="3108960"/>
            <a:ext cx="1627632" cy="54864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2231136" y="318211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8F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T7</a:t>
            </a:r>
            <a:endParaRPr lang="en-US" sz="2400" dirty="0"/>
          </a:p>
        </p:txBody>
      </p:sp>
      <p:sp>
        <p:nvSpPr>
          <p:cNvPr id="51" name="Text 48"/>
          <p:cNvSpPr/>
          <p:nvPr/>
        </p:nvSpPr>
        <p:spPr>
          <a:xfrm>
            <a:off x="2231136" y="35204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Food,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&amp; Atm.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2459736" y="4069080"/>
            <a:ext cx="1170432" cy="201168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2459736" y="408736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2276856" y="431596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great · excel servic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3959352" y="3108960"/>
            <a:ext cx="162763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3959352" y="3108960"/>
            <a:ext cx="1627632" cy="54864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3959352" y="318211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D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T8</a:t>
            </a:r>
            <a:endParaRPr lang="en-US" sz="2400" dirty="0"/>
          </a:p>
        </p:txBody>
      </p:sp>
      <p:sp>
        <p:nvSpPr>
          <p:cNvPr id="58" name="Text 55"/>
          <p:cNvSpPr/>
          <p:nvPr/>
        </p:nvSpPr>
        <p:spPr>
          <a:xfrm>
            <a:off x="3959352" y="35204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4187952" y="4069080"/>
            <a:ext cx="1170432" cy="201168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4187952" y="408736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4005072" y="431596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good · good food</a:t>
            </a:r>
            <a:endParaRPr lang="en-US" sz="750" dirty="0"/>
          </a:p>
        </p:txBody>
      </p:sp>
      <p:sp>
        <p:nvSpPr>
          <p:cNvPr id="62" name="Shape 59"/>
          <p:cNvSpPr/>
          <p:nvPr/>
        </p:nvSpPr>
        <p:spPr>
          <a:xfrm>
            <a:off x="5687568" y="3108960"/>
            <a:ext cx="162763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5687568" y="3108960"/>
            <a:ext cx="1627632" cy="54864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5687568" y="318211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6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T9</a:t>
            </a:r>
            <a:endParaRPr lang="en-US" sz="2400" dirty="0"/>
          </a:p>
        </p:txBody>
      </p:sp>
      <p:sp>
        <p:nvSpPr>
          <p:cNvPr id="65" name="Text 62"/>
          <p:cNvSpPr/>
          <p:nvPr/>
        </p:nvSpPr>
        <p:spPr>
          <a:xfrm>
            <a:off x="5687568" y="35204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Quality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Issues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5916168" y="4069080"/>
            <a:ext cx="1170432" cy="201168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5916168" y="408736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5733288" y="431596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 like · over cook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7415784" y="3108960"/>
            <a:ext cx="162763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7415784" y="3108960"/>
            <a:ext cx="1627632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7415784" y="318211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T10</a:t>
            </a:r>
            <a:endParaRPr lang="en-US" sz="2400" dirty="0"/>
          </a:p>
        </p:txBody>
      </p:sp>
      <p:sp>
        <p:nvSpPr>
          <p:cNvPr id="72" name="Text 69"/>
          <p:cNvSpPr/>
          <p:nvPr/>
        </p:nvSpPr>
        <p:spPr>
          <a:xfrm>
            <a:off x="7415784" y="35204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Dining Room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Impressions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7644384" y="4069080"/>
            <a:ext cx="1170432" cy="2011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7644384" y="4087368"/>
            <a:ext cx="1170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7461504" y="4315968"/>
            <a:ext cx="1536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 room · look like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TOPIC PREVALENCE BY RATING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Topics Appear Most in High vs. Low-Rated Reviews?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topic heavily present · Red = topic rarely appears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8321040" cy="3337560"/>
          </a:xfrm>
          <a:prstGeom prst="rect">
            <a:avLst/>
          </a:prstGeom>
          <a:solidFill>
            <a:srgbClr val="0F1E36"/>
          </a:solidFill>
          <a:ln w="12700">
            <a:solidFill>
              <a:srgbClr val="243557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44752"/>
            <a:ext cx="8266176" cy="3246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754880"/>
            <a:ext cx="4114800" cy="256032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47731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(Wait Time) &amp; T9 (Food Issues) dominate 1-star reviews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4754880"/>
            <a:ext cx="4069080" cy="256032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0" y="47731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(Excellence) &amp; T2 (Recommendations) drive 5-star reviews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TOPIC PROFILES COMPARED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Divergence Between 1-Star and 5-Star Review DNA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5486400" cy="3520440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16152"/>
            <a:ext cx="5431536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188720"/>
            <a:ext cx="26517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172200" y="1188720"/>
            <a:ext cx="54864" cy="1170432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91072" y="12618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T1: Wait Time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91072" y="15361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1-Star: 23.7%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52360" y="153619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5-Star: 7.4%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291072" y="178308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 mentions are 3× more common in 1-star reviews. Operational efficiency is a make-or-break signal.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6172200" y="2487168"/>
            <a:ext cx="26517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72200" y="2487168"/>
            <a:ext cx="54864" cy="1170432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91072" y="25603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T7: Excellence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91072" y="28346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5-Star: 19.3%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452360" y="2834640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1-Star: 5.4%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291072" y="308152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'Great food, service, atmosphere' language is 3.6× more common in 5-star reviews. Excellence needs to be total — all three dimensions.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6172200" y="3785616"/>
            <a:ext cx="26517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172200" y="3785616"/>
            <a:ext cx="54864" cy="1170432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291072" y="38587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T9: Food Issues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291072" y="41330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6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1-Star: 17.6%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452360" y="413308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5-Star: 6.6%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291072" y="437997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quality complaints appear 2.7× more in 1-star reviews. Inconsistency in food quality is a primary driver of poor ratings.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1089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4C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APPLICATION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6858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Needs This — and Why It Matters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2618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organisation sitting on unstructured text data — reviews, surveys, tickets, social — has this exact problem.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02920" y="1691640"/>
            <a:ext cx="4206240" cy="1508760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" y="1691640"/>
            <a:ext cx="420624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1856232"/>
            <a:ext cx="411480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892808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61288" y="1783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 Groups &amp; Hospitality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61288" y="20939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teams, brand managers, CMOs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40080" y="2377440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locations are underperforming and why? Are service failures or food quality issues driving negative reviews? This framework answers both — without reading every review manually.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502920" y="3337560"/>
            <a:ext cx="4206240" cy="1508760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02920" y="3337560"/>
            <a:ext cx="4206240" cy="54864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0080" y="3502152"/>
            <a:ext cx="411480" cy="411480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538728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61288" y="3429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&amp; Market Research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61288" y="37398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D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insights teams, strategy consultants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640080" y="4023360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Voice-of-customer analysis at scale. Instead of focus groups, model what customers actually say and weight it by what predicts satisfaction. Far cheaper, far faster, far more scalable.</a:t>
            </a:r>
            <a:endParaRPr lang="en-US" sz="880" dirty="0"/>
          </a:p>
        </p:txBody>
      </p:sp>
      <p:sp>
        <p:nvSpPr>
          <p:cNvPr id="21" name="Shape 16"/>
          <p:cNvSpPr/>
          <p:nvPr/>
        </p:nvSpPr>
        <p:spPr>
          <a:xfrm>
            <a:off x="4937760" y="1691640"/>
            <a:ext cx="4206240" cy="1508760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937760" y="1691640"/>
            <a:ext cx="4206240" cy="54864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074920" y="1856232"/>
            <a:ext cx="411480" cy="411480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496" y="1892808"/>
            <a:ext cx="338328" cy="3383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96128" y="1783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 &amp; Loyalty Strategy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596128" y="20939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46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managers, customer success, agency planners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5074920" y="2377440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client asks 'why are our ratings dropping?' — this is how you answer it with evidence, not assumptions. Topic shifts in review language can be leading indicators before ratings visibly decline.</a:t>
            </a:r>
            <a:endParaRPr lang="en-US" sz="880" dirty="0"/>
          </a:p>
        </p:txBody>
      </p:sp>
      <p:sp>
        <p:nvSpPr>
          <p:cNvPr id="28" name="Shape 22"/>
          <p:cNvSpPr/>
          <p:nvPr/>
        </p:nvSpPr>
        <p:spPr>
          <a:xfrm>
            <a:off x="4937760" y="3337560"/>
            <a:ext cx="4206240" cy="1508760"/>
          </a:xfrm>
          <a:prstGeom prst="rect">
            <a:avLst/>
          </a:prstGeom>
          <a:solidFill>
            <a:srgbClr val="243557"/>
          </a:solidFill>
          <a:ln w="12700">
            <a:solidFill>
              <a:srgbClr val="2E4A77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4937760" y="3337560"/>
            <a:ext cx="420624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5074920" y="3502152"/>
            <a:ext cx="411480" cy="41148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1496" y="3538728"/>
            <a:ext cx="338328" cy="33832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596128" y="34290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&amp; Experience Design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5596128" y="37398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teams, product managers, operations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5074920" y="4023360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specific dimensions — service speed, food consistency, atmosphere — where improvement would have the highest rating impact, based on actual customer language.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603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1089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TAKEAWAYS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6583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Restaurants Should Actually Focus 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4206240" cy="54864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" y="1325880"/>
            <a:ext cx="54864" cy="1627632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13990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61288" y="1417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quality is the foundation — but service determines the ceiling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19842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has the highest correlation with Overall ratings (r=0.90). But 5-star reviews are characterised by service language just as much as food praise. You need both.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937760" y="1325880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937760" y="1325880"/>
            <a:ext cx="4206240" cy="54864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937760" y="1325880"/>
            <a:ext cx="54864" cy="1627632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74920" y="13990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46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596128" y="1417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failures kill ratings faster than mediocre food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74920" y="198424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'Never return', 'very rude', 'service terrible' — the strongest negative LASSO coefficients are all service-failure phrases. A bad service experience drives 1-star reviews more than bad food alone.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02920" y="3108960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02920" y="3108960"/>
            <a:ext cx="4206240" cy="5486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02920" y="3108960"/>
            <a:ext cx="54864" cy="162763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31821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B5E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1161288" y="3200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middle of the scale is your blind spot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0080" y="37673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star reviews lack consistent language. Customers who are 'fine' don't have a standard vocabulary. This makes the middle hard to improve — you can't optimise what you can't measure.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937760" y="3108960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937760" y="3108960"/>
            <a:ext cx="42062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937760" y="3108960"/>
            <a:ext cx="54864" cy="16276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74920" y="31821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5596128" y="3200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Excellence needs to be total — food, service, atmosphere together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074920" y="376732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Food=5 and Service=5, the Overall rating is also 5 in 95.9% of cases. Topic 7 (great food, service, atmosphere combined) is the strongest predictor of 5-star reviews.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2D8C8C"/>
          </a:solidFill>
          <a:ln w="12700">
            <a:solidFill>
              <a:srgbClr val="2D8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28600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0" cy="1828800"/>
          </a:xfrm>
          <a:prstGeom prst="rect">
            <a:avLst/>
          </a:prstGeom>
          <a:solidFill>
            <a:srgbClr val="C4614A"/>
          </a:solidFill>
          <a:ln w="12700">
            <a:solidFill>
              <a:srgbClr val="C46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3200400"/>
            <a:ext cx="2286000" cy="19431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828800"/>
            <a:ext cx="22860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3200400"/>
            <a:ext cx="22860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" y="1828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" y="192024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" y="3291840"/>
            <a:ext cx="2103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06040" y="411480"/>
            <a:ext cx="6217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 tell you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everything.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just need to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how to listen.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2606040" y="3749040"/>
            <a:ext cx="1645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06040" y="388620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methods. 6,166 reviews. One consistent answer: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E8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quality + service excellence = the only recipe that matters.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477316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 Majeed  ·  Purdue University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1233</Words>
  <Application>Microsoft Macintosh PowerPoint</Application>
  <PresentationFormat>On-screen Show (16:9)</PresentationFormat>
  <Paragraphs>214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Customers Say — And What It Actually Means</dc:title>
  <dc:subject>PptxGenJS Presentation</dc:subject>
  <dc:creator>PptxGenJS</dc:creator>
  <cp:lastModifiedBy>Sana Majeed</cp:lastModifiedBy>
  <cp:revision>2</cp:revision>
  <dcterms:created xsi:type="dcterms:W3CDTF">2026-03-29T19:42:04Z</dcterms:created>
  <dcterms:modified xsi:type="dcterms:W3CDTF">2026-03-29T19:48:33Z</dcterms:modified>
</cp:coreProperties>
</file>